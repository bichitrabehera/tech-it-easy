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0"/>
  </p:notesMasterIdLst>
  <p:sldIdLst>
    <p:sldId id="256" r:id="rId2"/>
    <p:sldId id="272" r:id="rId3"/>
    <p:sldId id="261" r:id="rId4"/>
    <p:sldId id="273" r:id="rId5"/>
    <p:sldId id="262" r:id="rId6"/>
    <p:sldId id="274" r:id="rId7"/>
    <p:sldId id="263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666699"/>
    <a:srgbClr val="FF7C80"/>
    <a:srgbClr val="FF5050"/>
    <a:srgbClr val="AF0505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9AEDE-76B9-463D-B0C3-E0DAED4F437E}" v="5" dt="2025-10-16T14:33:51.1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760" autoAdjust="0"/>
  </p:normalViewPr>
  <p:slideViewPr>
    <p:cSldViewPr snapToGrid="0">
      <p:cViewPr varScale="1">
        <p:scale>
          <a:sx n="99" d="100"/>
          <a:sy n="99" d="100"/>
        </p:scale>
        <p:origin x="10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D3F9C-7161-4404-8A13-6384EA9D72FD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28303-9C05-49B2-9585-912BB6C2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6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28303-9C05-49B2-9585-912BB6C2A0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04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28303-9C05-49B2-9585-912BB6C2A0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41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C28303-9C05-49B2-9585-912BB6C2A0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0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0C9D6-C3F3-3658-68E6-202F37471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C4DCA-CCD3-D7D3-443A-484437B68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52A15-C317-B3EF-5BA3-14E4FB06E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C49ED-0F4E-16FD-172F-DAD2513BB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198DD-3D45-4C70-F292-D55036DAD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74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82FDE-68DD-EEC1-7787-AF138783C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F9BA9-ADD3-C756-6C69-2758FCEE2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B63E6-A5F1-44C9-E367-A44CF96C5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67110-DA7D-5F16-CC4D-A891760F8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1253D-D908-F46E-0178-3A8E7C17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16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F9441-CD54-2685-B99D-EE220EC98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A16D1-D246-79D1-DDC8-9E9571D81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48845-5861-5A1E-9C31-C5A04557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F53B5-A40E-D289-CFB0-BDD302E9F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2D128-5591-B43B-4423-FDD78099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1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43ACC-2B64-31DA-FF25-69522638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31667-3C94-75B2-901F-EF26DEA876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B8FC7-8232-338A-2669-F4640A86B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B5058-4945-6F73-9440-6B6608F5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1C85D-FFF5-0574-D70F-04BE432D1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4EA9B-60E7-78DA-F5A6-48E604E5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09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70635-3AA8-2EF7-ED21-7F4E1B293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1377B-EC3B-D0B9-ADBB-F68C0E616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353C0-EA12-F324-46BB-15910454D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1FB22-FCB0-135C-0114-1E3321958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55D8E0-459C-A577-8F9D-67EA8D7A5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E653DB-10FF-ADE2-5D06-DF8525ACF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3ECEF-2BA8-AB30-E661-5F3AC862C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83FE4E-3045-34A3-BBEA-6303F21E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3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82C96-3B47-2947-3EEB-211F9E502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7051A2-4DF6-82DF-98F0-07D430335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724FC-F8C7-5F93-0D29-24D74F6FD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5321A-D9AB-245E-E252-07EAFA738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03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7257C5-03B0-DF30-B524-549357879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B70E09-64D2-D892-C632-21E19CBE3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758E0-77AF-8A43-DFE2-449499529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80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4C784-6549-C060-2891-6CAF76961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032AB-A711-9244-9344-EAA2BF49A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1978C-C25D-AA3D-420E-988C8A086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B33D2-2F5D-8A3F-8495-F74135859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3626A-28C6-96D0-915F-5FD665FC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BCF2F-1704-FF98-CCCF-FE6472A4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33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8AC5-F705-2BF7-CAA8-73D68556A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A8A1D-6D49-B986-9426-2EEC0325AD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AEF341-58F4-5EF3-3A86-D70247EB2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F9CFB-9FC0-D3F4-FFB1-45DB94234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89957-97DA-DA0D-A35E-1A71870C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57EF2-B5E2-638A-61E8-B6A986624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4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01DA-1604-6913-0307-0588F2943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40465-BF95-9C2A-F842-825A1DF4E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5D171-DB52-A66D-92CB-823ECE84E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9647F-0031-D2FE-B112-5AD221D82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129AB-C39C-743C-9A23-27EFC6E2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8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2A0FA3-B97E-25DD-5795-0AD89E162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8CD9D6-8770-96EB-254D-BF9F2C800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76A80-EE00-C066-C1D2-283C642E5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8860C-2C56-CAC7-9C8C-C80CF743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E384E-2B5E-D56A-2B6C-4ABDA4B79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7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B7143A-49CE-2611-D5B7-D8CFD30B5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CFA66-A279-37DF-E064-669099A8F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7154D-5C66-AF63-85A3-567CF4CBA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2A76B-B7B5-4450-9734-1276C806D30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D2E6B-A413-4CFD-E8CE-360FAA36F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FF784-4C0F-791E-1BD3-129A1498F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02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dvertisingweek.com/carbon-cutdown-how-advertisers-can-reduce-their-carbon-footprint-now/" TargetMode="Externa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0" y="78793"/>
            <a:ext cx="7534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B.E Mini Project – First Review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9178" y="1352278"/>
            <a:ext cx="99972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AMC Engineering College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Department of Computer Science and Engineering(Data Science)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271" y="2861435"/>
            <a:ext cx="84254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“An OCR-Enabled System for Carbon Footprint Estimation from Purchase Receipt”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79B1DA-156F-7905-67F7-9AEBBF1E9EFA}"/>
              </a:ext>
            </a:extLst>
          </p:cNvPr>
          <p:cNvSpPr txBox="1"/>
          <p:nvPr/>
        </p:nvSpPr>
        <p:spPr>
          <a:xfrm>
            <a:off x="696036" y="4278261"/>
            <a:ext cx="44629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Khushi Joshi (1AM23CD045)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Matharishwa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(1AM23CD053)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Bichitra Behera (1AM23CD020)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Bharath S (1AM23CD017)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058A3-15E9-C20F-DDFB-6AE2D569E0E5}"/>
              </a:ext>
            </a:extLst>
          </p:cNvPr>
          <p:cNvSpPr txBox="1"/>
          <p:nvPr/>
        </p:nvSpPr>
        <p:spPr>
          <a:xfrm>
            <a:off x="8110787" y="5386257"/>
            <a:ext cx="3633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Prof. Vinod Kulkarni</a:t>
            </a:r>
          </a:p>
        </p:txBody>
      </p:sp>
    </p:spTree>
    <p:extLst>
      <p:ext uri="{BB962C8B-B14F-4D97-AF65-F5344CB8AC3E}">
        <p14:creationId xmlns:p14="http://schemas.microsoft.com/office/powerpoint/2010/main" val="76164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85E157-BA82-954E-E9B8-D44019156DBC}"/>
              </a:ext>
            </a:extLst>
          </p:cNvPr>
          <p:cNvSpPr txBox="1"/>
          <p:nvPr/>
        </p:nvSpPr>
        <p:spPr>
          <a:xfrm>
            <a:off x="3408361" y="947080"/>
            <a:ext cx="4840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OF CONTENTS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214CA1-A4A4-DC35-1043-141D43115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680373"/>
              </p:ext>
            </p:extLst>
          </p:nvPr>
        </p:nvGraphicFramePr>
        <p:xfrm>
          <a:off x="2114137" y="1774505"/>
          <a:ext cx="7799884" cy="37215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1621">
                  <a:extLst>
                    <a:ext uri="{9D8B030D-6E8A-4147-A177-3AD203B41FA5}">
                      <a16:colId xmlns:a16="http://schemas.microsoft.com/office/drawing/2014/main" val="1671056018"/>
                    </a:ext>
                  </a:extLst>
                </a:gridCol>
                <a:gridCol w="5568263">
                  <a:extLst>
                    <a:ext uri="{9D8B030D-6E8A-4147-A177-3AD203B41FA5}">
                      <a16:colId xmlns:a16="http://schemas.microsoft.com/office/drawing/2014/main" val="3280550225"/>
                    </a:ext>
                  </a:extLst>
                </a:gridCol>
              </a:tblGrid>
              <a:tr h="527459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75715"/>
                  </a:ext>
                </a:extLst>
              </a:tr>
              <a:tr h="534786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7218919"/>
                  </a:ext>
                </a:extLst>
              </a:tr>
              <a:tr h="534786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 AND OBJECTIVES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27206"/>
                  </a:ext>
                </a:extLst>
              </a:tr>
              <a:tr h="534786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084091"/>
                  </a:ext>
                </a:extLst>
              </a:tr>
              <a:tr h="527459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656462"/>
                  </a:ext>
                </a:extLst>
              </a:tr>
              <a:tr h="527459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AND SOFTWARE REQUIREMENTS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415549"/>
                  </a:ext>
                </a:extLst>
              </a:tr>
              <a:tr h="534786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REFERENCES</a:t>
                      </a:r>
                      <a:endParaRPr lang="en-IN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767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172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3206" y="215586"/>
            <a:ext cx="10543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OCR-Enabled System for Carbon Footprint Estimation from Purchase Receipt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41954" y="1104723"/>
            <a:ext cx="9212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3140" y="966362"/>
            <a:ext cx="107440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1. INTRODUCTION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D3D233C-F3CB-0967-C79A-002EACEFB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036" y="2168800"/>
            <a:ext cx="592856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 is a pressing global challenge, with food and retail sectors contributing significantly to greenhouse gas emissions.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consumers are unaware of the hidden carbon footprint of their everyday purchases.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solution that links real consumer behavior with carbon awareness can drive impactful change.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sustainability tools are often disconnected from daily shopping, making eco-conscious decision-making difficult.</a:t>
            </a:r>
          </a:p>
        </p:txBody>
      </p:sp>
      <p:pic>
        <p:nvPicPr>
          <p:cNvPr id="12" name="Picture 11" descr="A small globe and leaf on a wooden surface&#10;&#10;AI-generated content may be incorrect.">
            <a:extLst>
              <a:ext uri="{FF2B5EF4-FFF2-40B4-BE49-F238E27FC236}">
                <a16:creationId xmlns:a16="http://schemas.microsoft.com/office/drawing/2014/main" id="{983A83A8-710A-CDD9-526A-7D919100B6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182050" y="2076746"/>
            <a:ext cx="4086225" cy="297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26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C1EF9-826E-23C7-865D-0E5C09E36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D86C30-6787-D20C-4F06-394EE315EE38}"/>
              </a:ext>
            </a:extLst>
          </p:cNvPr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0746E2-F6F0-7419-1588-F3F27C02B170}"/>
              </a:ext>
            </a:extLst>
          </p:cNvPr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55FDBC2-4CAE-5D31-624E-9B346E9BB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24F0595-880C-36F6-1FC9-21D1117D5922}"/>
              </a:ext>
            </a:extLst>
          </p:cNvPr>
          <p:cNvSpPr/>
          <p:nvPr/>
        </p:nvSpPr>
        <p:spPr>
          <a:xfrm>
            <a:off x="692257" y="215586"/>
            <a:ext cx="10543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OCR-Enabled System for Carbon Footprint Estimation from Purchase Receipt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C4189C-2D16-A8AE-695A-8D2B1E2DCE9C}"/>
              </a:ext>
            </a:extLst>
          </p:cNvPr>
          <p:cNvSpPr txBox="1"/>
          <p:nvPr/>
        </p:nvSpPr>
        <p:spPr>
          <a:xfrm>
            <a:off x="2441954" y="1104723"/>
            <a:ext cx="9212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583287-4127-FF47-7721-06D7C64D55D8}"/>
              </a:ext>
            </a:extLst>
          </p:cNvPr>
          <p:cNvSpPr/>
          <p:nvPr/>
        </p:nvSpPr>
        <p:spPr>
          <a:xfrm>
            <a:off x="743140" y="966362"/>
            <a:ext cx="104414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PROBLEM STATEMENT AND OBJECTIVES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B295A3-870D-7D7E-AD7D-0CABB8EA58C8}"/>
              </a:ext>
            </a:extLst>
          </p:cNvPr>
          <p:cNvSpPr txBox="1"/>
          <p:nvPr/>
        </p:nvSpPr>
        <p:spPr>
          <a:xfrm>
            <a:off x="292231" y="1945985"/>
            <a:ext cx="11566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9A8821F-64B9-FA45-EB5B-450F4BCA1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896" y="1660345"/>
            <a:ext cx="10510904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change, driven by greenhouse gas (GHG) emissions, is one of the most urgent global challenges.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food and retail sectors contribute significantly to emissions, yet consumers remain unaware of the hidden carbon footprint of everyday purchases.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carbon calculators : Require manual input, making them inconvenient . Are error-prone and lack integration with real purchase receipts.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gap between consumer behavior and sustainability awareness, limiting eco-conscious decision-making.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OCR-Based Receipt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Extract product details (names, prices, quantities).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Footprint Calculation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Map items to GHG emission factors.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Provide breakdowns with charts, tables, and history.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 &amp; Alternatives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Highlight high-emission products and suggest greener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Extendable to retail reporting and consumer incentive programs.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11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3206" y="215586"/>
            <a:ext cx="10543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OCR-Enabled System for Carbon Footprint Estimation from Purchase Receipt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6955B3-6B8F-3C2A-F8D4-E74918490592}"/>
              </a:ext>
            </a:extLst>
          </p:cNvPr>
          <p:cNvSpPr txBox="1"/>
          <p:nvPr/>
        </p:nvSpPr>
        <p:spPr>
          <a:xfrm>
            <a:off x="1648625" y="952717"/>
            <a:ext cx="8894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3. LITERATURE REVIEW(Recent Papers i.e., Last 5 Years)</a:t>
            </a: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D2B042-FAA7-95C5-20E2-71259138C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444995"/>
              </p:ext>
            </p:extLst>
          </p:nvPr>
        </p:nvGraphicFramePr>
        <p:xfrm>
          <a:off x="573206" y="1580419"/>
          <a:ext cx="10971094" cy="43414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453">
                  <a:extLst>
                    <a:ext uri="{9D8B030D-6E8A-4147-A177-3AD203B41FA5}">
                      <a16:colId xmlns:a16="http://schemas.microsoft.com/office/drawing/2014/main" val="232316609"/>
                    </a:ext>
                  </a:extLst>
                </a:gridCol>
                <a:gridCol w="3003212">
                  <a:extLst>
                    <a:ext uri="{9D8B030D-6E8A-4147-A177-3AD203B41FA5}">
                      <a16:colId xmlns:a16="http://schemas.microsoft.com/office/drawing/2014/main" val="1356408085"/>
                    </a:ext>
                  </a:extLst>
                </a:gridCol>
                <a:gridCol w="2448162">
                  <a:extLst>
                    <a:ext uri="{9D8B030D-6E8A-4147-A177-3AD203B41FA5}">
                      <a16:colId xmlns:a16="http://schemas.microsoft.com/office/drawing/2014/main" val="1979007587"/>
                    </a:ext>
                  </a:extLst>
                </a:gridCol>
                <a:gridCol w="2418428">
                  <a:extLst>
                    <a:ext uri="{9D8B030D-6E8A-4147-A177-3AD203B41FA5}">
                      <a16:colId xmlns:a16="http://schemas.microsoft.com/office/drawing/2014/main" val="3763659120"/>
                    </a:ext>
                  </a:extLst>
                </a:gridCol>
                <a:gridCol w="2338839">
                  <a:extLst>
                    <a:ext uri="{9D8B030D-6E8A-4147-A177-3AD203B41FA5}">
                      <a16:colId xmlns:a16="http://schemas.microsoft.com/office/drawing/2014/main" val="1916647017"/>
                    </a:ext>
                  </a:extLst>
                </a:gridCol>
              </a:tblGrid>
              <a:tr h="43467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020950"/>
                  </a:ext>
                </a:extLst>
              </a:tr>
              <a:tr h="72588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Antonio J. et al., 2022, </a:t>
                      </a: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1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Survey on Scanned Receipts OCR and Information Extraction</a:t>
                      </a: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Surveyed OCR techniques for scanned receipts and methods for extracting itemized data.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OCR algorithms; no carbon footprint computation.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foundational knowledge for receipt text</a:t>
                      </a:r>
                    </a:p>
                    <a:p>
                      <a:pPr algn="l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97298"/>
                  </a:ext>
                </a:extLst>
              </a:tr>
              <a:tr h="111517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 J.-M., Ma H., Kong J., 2025, “</a:t>
                      </a:r>
                      <a:r>
                        <a:rPr lang="en-US" sz="1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Receipt Recognition Technology Driven by Multimodal Alignment and Lightweight Sequence Modeling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advanced OCR with multimodal alignment for accurate receipt recognition.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technical OCR improvement; limited application to environmental impact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accurate extraction of purchase data for footprint calculation.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126548"/>
                  </a:ext>
                </a:extLst>
              </a:tr>
              <a:tr h="111517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Adhikari N., Li H., Gopalakrishnan B., 2025, “</a:t>
                      </a:r>
                      <a:r>
                        <a:rPr lang="en-US" sz="1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Carbon Footprint Tracking in Cross-Sector Industries: Emerging Tools and Technologies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Explored tools and technologies for tracking carbon footprint across industries.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industrial applications; not consumer receipts.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Offers insights on emission datasets and tracking methods.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525090"/>
                  </a:ext>
                </a:extLst>
              </a:tr>
              <a:tr h="90975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Kaanaslan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M. et al., 2025, “</a:t>
                      </a:r>
                      <a:r>
                        <a:rPr lang="en-US" sz="1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Carbon Footprint Wizard: A Knowledge-Augmented AI Interface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an AI system to estimate and visualize carbon footprint of consumer purchases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Early-stage prototype; may lack scalability.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Closest to proposed project; guides integration of AI and visualization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575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661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70743-F775-2FCD-15E9-ED0AF2607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02533C-C0ED-0203-B047-DD6022C30D84}"/>
              </a:ext>
            </a:extLst>
          </p:cNvPr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0D34FB-156C-68E7-1A1E-9A01E596E4C1}"/>
              </a:ext>
            </a:extLst>
          </p:cNvPr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BAC08EC-53B8-F5F6-A1DB-61265D21F1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65C554-60C7-76B6-D63A-D50687BDD858}"/>
              </a:ext>
            </a:extLst>
          </p:cNvPr>
          <p:cNvSpPr/>
          <p:nvPr/>
        </p:nvSpPr>
        <p:spPr>
          <a:xfrm>
            <a:off x="573206" y="215586"/>
            <a:ext cx="10543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OCR-Enabled System for Carbon Footprint Estimation from Purchase Receipt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6DC729-D01C-3366-CC8A-8CA7C15E6555}"/>
              </a:ext>
            </a:extLst>
          </p:cNvPr>
          <p:cNvSpPr txBox="1"/>
          <p:nvPr/>
        </p:nvSpPr>
        <p:spPr>
          <a:xfrm>
            <a:off x="1099036" y="1132820"/>
            <a:ext cx="8894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4. </a:t>
            </a:r>
            <a:r>
              <a:rPr lang="en-IN" sz="2400" b="1" spc="-1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E902E0-0227-6479-16B8-054BB0F3C5DF}"/>
              </a:ext>
            </a:extLst>
          </p:cNvPr>
          <p:cNvSpPr txBox="1"/>
          <p:nvPr/>
        </p:nvSpPr>
        <p:spPr>
          <a:xfrm>
            <a:off x="696036" y="2138161"/>
            <a:ext cx="8656793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receipts or scripts for carbon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text using OCR (Tesseract)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features: line items, quantities, and carbon coefficients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Train/compute carbon footprint using Python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accuracy: OCR correctness, backend computation, UI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visualizations for explainable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carbon scores and detailed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via web app (React frontend) and API (Python backend) for easy access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130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3206" y="215586"/>
            <a:ext cx="105431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OCR-Enabled System for Carbon Footprint Estimation from Purchase Receipt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spcBef>
                <a:spcPts val="0"/>
              </a:spcBef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29084" y="954475"/>
            <a:ext cx="9212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02318" y="1183825"/>
            <a:ext cx="8889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HARDWARE AND SOFTWARE REQUIREMENTS</a:t>
            </a:r>
            <a:endParaRPr lang="en-US" sz="2400" dirty="0">
              <a:solidFill>
                <a:srgbClr val="00006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1F080-C76C-946D-DD63-8D22C8FE6C95}"/>
              </a:ext>
            </a:extLst>
          </p:cNvPr>
          <p:cNvSpPr txBox="1"/>
          <p:nvPr/>
        </p:nvSpPr>
        <p:spPr>
          <a:xfrm>
            <a:off x="914401" y="1982445"/>
            <a:ext cx="4446887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Dual-core CPU (Intel i3/AMD eq.), 4 GB RAM, 2 GB free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OCR support on CPU.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Quad-core CPU (Intel i5/i7 or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5/7), 8–16 GB 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CUDA-enabled GPU (NVIDIA) for faster OCR/ML.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broadband (10–50 Mbps).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884520-EBDE-8596-CE85-D06594738FE1}"/>
              </a:ext>
            </a:extLst>
          </p:cNvPr>
          <p:cNvSpPr txBox="1"/>
          <p:nvPr/>
        </p:nvSpPr>
        <p:spPr>
          <a:xfrm>
            <a:off x="6294288" y="1982445"/>
            <a:ext cx="482209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 11 / Ubuntu 20.04+ / macOS 11+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3.9+, Fast API , Tesseract OCR, OpenCV, Pandas, NumPy, SQLite.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19, Vite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Code</a:t>
            </a:r>
          </a:p>
        </p:txBody>
      </p:sp>
    </p:spTree>
    <p:extLst>
      <p:ext uri="{BB962C8B-B14F-4D97-AF65-F5344CB8AC3E}">
        <p14:creationId xmlns:p14="http://schemas.microsoft.com/office/powerpoint/2010/main" val="1837083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786679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6321188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7" y="0"/>
            <a:ext cx="566809" cy="7524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3206" y="215586"/>
            <a:ext cx="105431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OCR-Enabled System for Carbon Footprint Estimation from Purchase Receipt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spcBef>
                <a:spcPts val="0"/>
              </a:spcBef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664" y="1063609"/>
            <a:ext cx="9212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E67C8"/>
              </a:buClr>
              <a:buSzPts val="3600"/>
            </a:pPr>
            <a:r>
              <a:rPr lang="en-US" sz="2800" b="1" dirty="0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REFERENCES</a:t>
            </a:r>
            <a:endParaRPr lang="en-US" sz="2800" b="1" dirty="0">
              <a:solidFill>
                <a:srgbClr val="000066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3206" y="1288362"/>
            <a:ext cx="10986448" cy="464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IN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E88F83D-B9F8-1837-BE73-ABC01B362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472" y="2088511"/>
            <a:ext cx="1019491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[1]. Antonio J.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“A Survey on Scanned Receipts OCR and Information Extraction,” Preprint, 2022.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[2]. Yu J.-M., Ma H., Kong J., “Receipt Recognition Technology Driven by Multimodal Alignment and Lightweight Sequence Modeling,”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[3]. Adhikari N., Li H., Gopalakrishnan B., “Carbon Footprint Tracking in Cross-Sector Industries: Emerging Tools and Technologies,”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Kaanaslan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“The Carbon Footprint Wizard: A Knowledge-Augmented AI Interface,”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</p:txBody>
      </p:sp>
    </p:spTree>
    <p:extLst>
      <p:ext uri="{BB962C8B-B14F-4D97-AF65-F5344CB8AC3E}">
        <p14:creationId xmlns:p14="http://schemas.microsoft.com/office/powerpoint/2010/main" val="96418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</TotalTime>
  <Words>912</Words>
  <Application>Microsoft Office PowerPoint</Application>
  <PresentationFormat>Widescreen</PresentationFormat>
  <Paragraphs>112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Daaku</dc:creator>
  <cp:lastModifiedBy>Bichitra Behera</cp:lastModifiedBy>
  <cp:revision>9</cp:revision>
  <dcterms:created xsi:type="dcterms:W3CDTF">2025-09-12T04:19:41Z</dcterms:created>
  <dcterms:modified xsi:type="dcterms:W3CDTF">2026-04-04T04:57:19Z</dcterms:modified>
</cp:coreProperties>
</file>