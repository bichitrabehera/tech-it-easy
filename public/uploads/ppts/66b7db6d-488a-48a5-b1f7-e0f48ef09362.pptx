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1"/>
  </p:notesMasterIdLst>
  <p:sldIdLst>
    <p:sldId id="256" r:id="rId2"/>
    <p:sldId id="261" r:id="rId3"/>
    <p:sldId id="273" r:id="rId4"/>
    <p:sldId id="262" r:id="rId5"/>
    <p:sldId id="274" r:id="rId6"/>
    <p:sldId id="263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6699"/>
    <a:srgbClr val="FF7C80"/>
    <a:srgbClr val="FF5050"/>
    <a:srgbClr val="AF0505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60" autoAdjust="0"/>
  </p:normalViewPr>
  <p:slideViewPr>
    <p:cSldViewPr snapToGrid="0">
      <p:cViewPr varScale="1">
        <p:scale>
          <a:sx n="99" d="100"/>
          <a:sy n="99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D3F9C-7161-4404-8A13-6384EA9D72F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28303-9C05-49B2-9585-912BB6C2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04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85F2-4915-A843-9D2B-18C195E1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A5C24-BD5A-9939-37D7-DFDB0B477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AE3FD-CF56-ABC9-F2A7-97B48445F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78585-36C2-2CD6-A694-F8D250674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7850-D023-5563-D1C9-67FDA2A1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FC91D-6F9A-7403-ABA9-CCF83ED73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34220-267B-CB91-7C25-2806A5688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64335-4D79-6636-4B57-93635BFED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9094-8994-1D73-54FC-EF1F6FF3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D2F1A-2417-9C5E-19EB-17F723071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A268F-9E9D-7E08-06BD-392F0220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90825-5A35-C3E0-500D-5DAE331F2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28303-9C05-49B2-9585-912BB6C2A0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3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9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1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6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2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8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7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0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8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0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73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8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2A76B-B7B5-4450-9734-1276C806D30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8F8B4-9602-43F2-B7C0-8875A316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9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97365" y="1352278"/>
            <a:ext cx="9997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– Project Based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3109" y="2342650"/>
            <a:ext cx="91857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Amortized Inverse PDE Inference with Analytical Data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9B1DA-156F-7905-67F7-9AEBBF1E9EFA}"/>
              </a:ext>
            </a:extLst>
          </p:cNvPr>
          <p:cNvSpPr txBox="1"/>
          <p:nvPr/>
        </p:nvSpPr>
        <p:spPr>
          <a:xfrm>
            <a:off x="7472122" y="4084321"/>
            <a:ext cx="44629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Joshi (1AM23CD045)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Matharishwa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(1AM23CD053)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Bichitra Behera (1AM23CD020)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Bharath S (1AM23CD017)</a:t>
            </a:r>
          </a:p>
        </p:txBody>
      </p:sp>
    </p:spTree>
    <p:extLst>
      <p:ext uri="{BB962C8B-B14F-4D97-AF65-F5344CB8AC3E}">
        <p14:creationId xmlns:p14="http://schemas.microsoft.com/office/powerpoint/2010/main" val="76164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368" y="771546"/>
            <a:ext cx="26276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D3D233C-F3CB-0967-C79A-002EACEFB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368" y="1551563"/>
            <a:ext cx="921223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inverse PDE problem involves finding unknown system properties from observed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hidden coefficient fields cannot be directly measured in practice.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estimation is done using available observations of the system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problem is widely used in fields like geophysics, materials science, and thermal engineering.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 is usually sparse, meaning only a few measurement points are available.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observed data also contains noise, which makes the problem more difficult.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accurately reconstruct the unknown spatial parameters from limited and noisy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26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1EF9-826E-23C7-865D-0E5C09E3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583287-4127-FF47-7721-06D7C64D55D8}"/>
              </a:ext>
            </a:extLst>
          </p:cNvPr>
          <p:cNvSpPr/>
          <p:nvPr/>
        </p:nvSpPr>
        <p:spPr>
          <a:xfrm>
            <a:off x="858653" y="783211"/>
            <a:ext cx="3676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F8B1D28-589C-0C23-BAAF-62EED733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79" y="1520286"/>
            <a:ext cx="72574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solve a new optimization problem for every instance.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them very slow and computationally expensive.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performance depends heavily on initialization and parameter tuning.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often struggle to provide reliable uncertainty estimates.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uncertainty calibration reduces trust in the results.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these methods are inefficient for repeated or real-time use. </a:t>
            </a:r>
          </a:p>
        </p:txBody>
      </p:sp>
    </p:spTree>
    <p:extLst>
      <p:ext uri="{BB962C8B-B14F-4D97-AF65-F5344CB8AC3E}">
        <p14:creationId xmlns:p14="http://schemas.microsoft.com/office/powerpoint/2010/main" val="68011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76955B3-6B8F-3C2A-F8D4-E74918490592}"/>
              </a:ext>
            </a:extLst>
          </p:cNvPr>
          <p:cNvSpPr txBox="1"/>
          <p:nvPr/>
        </p:nvSpPr>
        <p:spPr>
          <a:xfrm>
            <a:off x="945980" y="755500"/>
            <a:ext cx="889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3242A2-7255-1DA7-F156-28FF433BB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80" y="1518751"/>
            <a:ext cx="681198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uses amortized learning to solve inverse problems efficiently.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single trained model can handle multiple problem instances.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directly predicts the coefficient field from observed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removes the need for repeated optimization.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significantly reduces computation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improves scalability for large datasets. </a:t>
            </a:r>
          </a:p>
        </p:txBody>
      </p:sp>
    </p:spTree>
    <p:extLst>
      <p:ext uri="{BB962C8B-B14F-4D97-AF65-F5344CB8AC3E}">
        <p14:creationId xmlns:p14="http://schemas.microsoft.com/office/powerpoint/2010/main" val="1766661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0743-F775-2FCD-15E9-ED0AF260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F6DC729-D01C-3366-CC8A-8CA7C15E6555}"/>
              </a:ext>
            </a:extLst>
          </p:cNvPr>
          <p:cNvSpPr txBox="1"/>
          <p:nvPr/>
        </p:nvSpPr>
        <p:spPr>
          <a:xfrm>
            <a:off x="1118086" y="742295"/>
            <a:ext cx="8894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  <a:endParaRPr lang="en-US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902E0-0227-6479-16B8-054BB0F3C5DF}"/>
              </a:ext>
            </a:extLst>
          </p:cNvPr>
          <p:cNvSpPr txBox="1"/>
          <p:nvPr/>
        </p:nvSpPr>
        <p:spPr>
          <a:xfrm>
            <a:off x="1118086" y="1573780"/>
            <a:ext cx="7264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generates training data using an analytical approach instead of repeated optimization.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samples random coefficient fields from a smooth prior distribution.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forward PDE is solved once to obtain the corresponding output.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observation data is then created by sampling from this output.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produces large amounts of labeled data efficiently.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diversity and reduces computational cost.</a:t>
            </a:r>
          </a:p>
        </p:txBody>
      </p:sp>
    </p:spTree>
    <p:extLst>
      <p:ext uri="{BB962C8B-B14F-4D97-AF65-F5344CB8AC3E}">
        <p14:creationId xmlns:p14="http://schemas.microsoft.com/office/powerpoint/2010/main" val="91113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3873" y="637125"/>
            <a:ext cx="28770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CA4F834-AE64-5734-3D2A-C399E30A3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4" y="1285311"/>
            <a:ext cx="468680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a set encoder to process input observations.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handle variable numbers of observation points.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grid decoder maps the encoded information to spatial outputs.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values for each point in the grid.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uncertainty head estimates both mean and variance.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probabilistic prediction using a Gaussian distribution.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DD2B2F-E965-380D-CBD0-4828EE9801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2601" y="1744781"/>
            <a:ext cx="6438900" cy="336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8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0509-EB58-24CD-7D6F-BF09EE44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B2A187-3743-EF45-3345-AD1771500028}"/>
              </a:ext>
            </a:extLst>
          </p:cNvPr>
          <p:cNvSpPr/>
          <p:nvPr/>
        </p:nvSpPr>
        <p:spPr>
          <a:xfrm>
            <a:off x="723899" y="1100174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48F7A5B-BCA3-4B0B-AE91-29A70C4AE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593088"/>
            <a:ext cx="44548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 achieves the same accuracy as the Gaussian Process baseline.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uncertainty calibration by about 2.3 times.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significantly faster, around 320 times faster than PINN.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even with noisy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remains effective when the number of observations is low.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DF3F5-BE11-035E-1708-F5F650BBA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798" y="1561839"/>
            <a:ext cx="6220693" cy="1867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827C3D-D2AB-43A9-BA85-C5105EF47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058" y="3648913"/>
            <a:ext cx="5344271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2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00CF-9DFD-B0CF-1752-1BAF9125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485479-2BA9-EC66-7E51-609258138A5E}"/>
              </a:ext>
            </a:extLst>
          </p:cNvPr>
          <p:cNvSpPr/>
          <p:nvPr/>
        </p:nvSpPr>
        <p:spPr>
          <a:xfrm>
            <a:off x="713873" y="6371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imitations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7175D4F-1871-2997-8961-C343C85C5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703500"/>
            <a:ext cx="809324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coefficients only : GP-sampled k is smooth by construction . Sharp discontinuities degrade accuracy significantly.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Two-dimensional: 3D extension requires , rethinking data generation, attention complexity , and evaluation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resolution : 32*32 grid , cross-attention scales as O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N_grid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M).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64*64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N_grid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4096 , memory quadruples . Architecture modification needed for higher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50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15FF-8CCC-A9C0-37C9-AE2938C6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63ED6E-683F-A997-AB8A-117F78C900FB}"/>
              </a:ext>
            </a:extLst>
          </p:cNvPr>
          <p:cNvSpPr/>
          <p:nvPr/>
        </p:nvSpPr>
        <p:spPr>
          <a:xfrm>
            <a:off x="713873" y="637125"/>
            <a:ext cx="8889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76A5A-8213-724A-0351-8EE280D39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3" y="1155443"/>
            <a:ext cx="791577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method introduces a fast and efficient approach for inverse PDE problems.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achieves accuracy comparable to traditional methods.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better uncertainty estimation.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significantly reduces computation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suitable for repeated and real-time applications.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testing on more PDE types and real-world datasets </a:t>
            </a:r>
          </a:p>
        </p:txBody>
      </p:sp>
    </p:spTree>
    <p:extLst>
      <p:ext uri="{BB962C8B-B14F-4D97-AF65-F5344CB8AC3E}">
        <p14:creationId xmlns:p14="http://schemas.microsoft.com/office/powerpoint/2010/main" val="211463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</TotalTime>
  <Words>577</Words>
  <Application>Microsoft Office PowerPoint</Application>
  <PresentationFormat>Widescreen</PresentationFormat>
  <Paragraphs>67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Daaku</dc:creator>
  <cp:lastModifiedBy>Bichitra Behera</cp:lastModifiedBy>
  <cp:revision>18</cp:revision>
  <dcterms:created xsi:type="dcterms:W3CDTF">2025-09-12T04:19:41Z</dcterms:created>
  <dcterms:modified xsi:type="dcterms:W3CDTF">2026-04-07T05:19:40Z</dcterms:modified>
</cp:coreProperties>
</file>