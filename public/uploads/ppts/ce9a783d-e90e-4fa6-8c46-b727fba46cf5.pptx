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notesMasterIdLst>
    <p:notesMasterId r:id="rId11"/>
  </p:notesMasterIdLst>
  <p:sldIdLst>
    <p:sldId id="256" r:id="rId2"/>
    <p:sldId id="261" r:id="rId3"/>
    <p:sldId id="273" r:id="rId4"/>
    <p:sldId id="262" r:id="rId5"/>
    <p:sldId id="274" r:id="rId6"/>
    <p:sldId id="263" r:id="rId7"/>
    <p:sldId id="275" r:id="rId8"/>
    <p:sldId id="276" r:id="rId9"/>
    <p:sldId id="27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666699"/>
    <a:srgbClr val="FF7C80"/>
    <a:srgbClr val="FF5050"/>
    <a:srgbClr val="AF0505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760" autoAdjust="0"/>
  </p:normalViewPr>
  <p:slideViewPr>
    <p:cSldViewPr snapToGrid="0">
      <p:cViewPr varScale="1">
        <p:scale>
          <a:sx n="99" d="100"/>
          <a:sy n="99" d="100"/>
        </p:scale>
        <p:origin x="10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D3F9C-7161-4404-8A13-6384EA9D72F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C28303-9C05-49B2-9585-912BB6C2A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6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28303-9C05-49B2-9585-912BB6C2A0A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049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28303-9C05-49B2-9585-912BB6C2A0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41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D85F2-4915-A843-9D2B-18C195E1A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A5C24-BD5A-9939-37D7-DFDB0B477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AE3FD-CF56-ABC9-F2A7-97B48445F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78585-36C2-2CD6-A694-F8D250674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28303-9C05-49B2-9585-912BB6C2A0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53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37850-D023-5563-D1C9-67FDA2A16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FC91D-6F9A-7403-ABA9-CCF83ED73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34220-267B-CB91-7C25-2806A5688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64335-4D79-6636-4B57-93635BFED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28303-9C05-49B2-9585-912BB6C2A0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09094-8994-1D73-54FC-EF1F6FF3C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7D2F1A-2417-9C5E-19EB-17F723071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CA268F-9E9D-7E08-06BD-392F0220E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90825-5A35-C3E0-500D-5DAE331F2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28303-9C05-49B2-9585-912BB6C2A0A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33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F6805-71E5-01CA-0827-F35B63F5D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BE9DE-AE2B-BE7F-FE40-BBC5FC3F3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B86CF-43F0-D5E6-959D-0305C7EEA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49303-3E70-7DC4-98BA-1764ABEF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BDF20-14C4-8308-735C-6E674E7D5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58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95C3B-91DC-2245-51A6-D3503C2C9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4DBE7-A789-E46E-67CD-3DE00BCC9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7E26A-8AEB-2D0C-5393-502A506E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0FEBE-E2AE-45F2-FCF9-78399C98A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60C78-681C-BAC0-3461-F3F0A6082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2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DD7E-C9E3-8C19-6E5C-9D3D94DF1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40040-1FB3-4C0A-C905-0478B44ED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E5A37-7A97-D107-4D3B-6038E146C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0DC34-13BA-2C53-5E46-9AB5449B0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8273F-2FE8-3CA2-EE79-C303ED43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843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4A5D8-8EFA-3184-054F-30DF844DF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10620-B6A6-ECEE-BAA2-C2164BFF4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AA07E3-619B-CEC7-82F0-C740B4691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6F420-7CB0-1C0D-0B5F-105BC5D6F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67D71-BC48-4072-09C5-78F595C9F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83016-E177-DE9B-A714-0837172D4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28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661DF-E640-59E3-D0FE-C30495669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CB470-DE67-DD9D-B3E3-73F0F30E4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4114B-E805-513F-E742-09ACD7ECB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C8FF00-C7AD-AE41-B90D-8A626CC165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9DA24A-7144-E9DB-DA20-7A172891B5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7F8FB0-3F8E-3841-0423-424E7407D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714814-D6B5-5669-CC51-C0C627C0D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BE3325-BE53-2E43-EEEE-885D8AED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7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659CB-03D6-D0C9-9B63-37942B370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2CD49A-BC19-1D25-CE30-C1AD75963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D82861-07B4-6F28-9783-FB54D086F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BE806-CF4D-595C-1336-135D62A5D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00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C71931-2D45-DA7C-6D2C-CA89A42A0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090588-7FFD-915E-868A-681148ECB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7D447-C1BD-FACF-9525-C64489EB5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19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EC2FB-7CB6-AC95-1F8A-EDFF13C8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F7880-DDF9-2A94-026B-428DE50F0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E346D-7DAD-DE62-F8A1-79C1DA7B5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770494-0A23-3E33-7B62-FCCC81AEA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39224-3EF4-77ED-C466-98FA8726C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F778F-21D5-B5A3-400D-27A7189E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07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ED28D-41E7-F8E7-E204-191E9D831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C45ED9-3EDB-45AF-E17C-A961761807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783EE8-8D6C-02A0-EC98-D7C04C5C7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2A3E4-D376-B555-0EF0-93480064F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19828-3577-286C-6F39-9FD62505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116F1-EE31-5552-4FF2-6A219C6FF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37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95005-FFD6-50A7-C14D-921F0362A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D11D84-D7F9-5BE8-7572-6CA561CD8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6905D-F516-B8D8-CA10-C8153B570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DF3A2-B948-1C32-83B9-E872B5312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2B47C-4E2E-EA22-2C72-A11A0A3E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99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FA1416-BCF5-C3DD-3FFA-2527D62C98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6A9159-A6D1-84F2-4ED6-9FA8295C2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19D17-DE21-1790-8DE1-0AB5F8D00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FE550-8DE0-6C16-7597-402AF6175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598A0-C922-C988-945F-EC221D31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25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30348-C4E3-64BB-2089-DF7833B94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9C68F-E67C-FE80-BA4C-362005DBF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14A16-82E9-C108-E8CE-D33702A641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2A76B-B7B5-4450-9734-1276C806D30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85DA3-7E68-8E26-F479-F395CC826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2DC4D-0E55-DA0D-77F6-B577A7C89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61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786679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86000" y="78793"/>
            <a:ext cx="7534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ML-PBL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365" y="1352278"/>
            <a:ext cx="99972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AMC Engineering College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Department of Computer Science and Engineering(Data Science)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3109" y="2599825"/>
            <a:ext cx="91857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Amortized Inverse PDE Inference with Analytical Data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79B1DA-156F-7905-67F7-9AEBBF1E9EFA}"/>
              </a:ext>
            </a:extLst>
          </p:cNvPr>
          <p:cNvSpPr txBox="1"/>
          <p:nvPr/>
        </p:nvSpPr>
        <p:spPr>
          <a:xfrm>
            <a:off x="8376997" y="4198896"/>
            <a:ext cx="44629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Khushi Joshi (1AM23CD045)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Matharishwa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(1AM23CD053)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Bichitra Behera (1AM23CD020)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Bharath S (1AM23CD017)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640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76323" y="800422"/>
            <a:ext cx="26276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D3D233C-F3CB-0967-C79A-002EACEFB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9880" y="1551563"/>
            <a:ext cx="9212239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inverse PDE problem involves finding unknown system properties from observed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hidden coefficient fields cannot be directly measured in practice.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estimation is done using available observations of the system output.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problem is widely used in fields like geophysics, materials science, and thermal engineering.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data is usually sparse, meaning only a few measurement points are available.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observed data also contains noise, which makes the problem more difficult.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is to accurately reconstruct the unknown spatial parameters from limited and noisy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26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C1EF9-826E-23C7-865D-0E5C09E36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583287-4127-FF47-7721-06D7C64D55D8}"/>
              </a:ext>
            </a:extLst>
          </p:cNvPr>
          <p:cNvSpPr/>
          <p:nvPr/>
        </p:nvSpPr>
        <p:spPr>
          <a:xfrm>
            <a:off x="1376413" y="1068961"/>
            <a:ext cx="36768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F8B1D28-589C-0C23-BAAF-62EED733C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4539" y="2082061"/>
            <a:ext cx="725744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solve a new optimization problem for every instance.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makes them very slow and computationally expensive.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Their performance depends heavily on initialization and parameter tuning.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often struggle to provide reliable uncertainty estimates.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uncertainty calibration reduces trust in the results.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these methods are inefficient for repeated or real-time use. </a:t>
            </a:r>
          </a:p>
        </p:txBody>
      </p:sp>
    </p:spTree>
    <p:extLst>
      <p:ext uri="{BB962C8B-B14F-4D97-AF65-F5344CB8AC3E}">
        <p14:creationId xmlns:p14="http://schemas.microsoft.com/office/powerpoint/2010/main" val="680117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376955B3-6B8F-3C2A-F8D4-E74918490592}"/>
              </a:ext>
            </a:extLst>
          </p:cNvPr>
          <p:cNvSpPr txBox="1"/>
          <p:nvPr/>
        </p:nvSpPr>
        <p:spPr>
          <a:xfrm>
            <a:off x="1234738" y="1202974"/>
            <a:ext cx="8894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</a:t>
            </a:r>
            <a:endParaRPr lang="en-IN" sz="24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33242A2-7255-1DA7-F156-28FF433BB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38" y="1947075"/>
            <a:ext cx="681198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method uses amortized learning to solve inverse problems efficiently.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single trained model can handle multiple problem instances.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directly predicts the coefficient field from observed data.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removes the need for repeated optimization.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approach significantly reduces computation time.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also improves scalability for large datasets. </a:t>
            </a:r>
          </a:p>
        </p:txBody>
      </p:sp>
    </p:spTree>
    <p:extLst>
      <p:ext uri="{BB962C8B-B14F-4D97-AF65-F5344CB8AC3E}">
        <p14:creationId xmlns:p14="http://schemas.microsoft.com/office/powerpoint/2010/main" val="1766661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70743-F775-2FCD-15E9-ED0AF2607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0D34FB-156C-68E7-1A1E-9A01E596E4C1}"/>
              </a:ext>
            </a:extLst>
          </p:cNvPr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F6DC729-D01C-3366-CC8A-8CA7C15E6555}"/>
              </a:ext>
            </a:extLst>
          </p:cNvPr>
          <p:cNvSpPr txBox="1"/>
          <p:nvPr/>
        </p:nvSpPr>
        <p:spPr>
          <a:xfrm>
            <a:off x="1099036" y="1132820"/>
            <a:ext cx="8894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</a:t>
            </a:r>
            <a:endParaRPr lang="en-US" sz="24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E902E0-0227-6479-16B8-054BB0F3C5DF}"/>
              </a:ext>
            </a:extLst>
          </p:cNvPr>
          <p:cNvSpPr txBox="1"/>
          <p:nvPr/>
        </p:nvSpPr>
        <p:spPr>
          <a:xfrm>
            <a:off x="1196549" y="1907155"/>
            <a:ext cx="72640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generates training data using an analytical approach instead of repeated optimization.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samples random coefficient fields from a smooth prior distribution.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forward PDE is solved once to obtain the corresponding output.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observation data is then created by sampling from this output.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produces large amounts of labeled data efficiently.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diversity and reduces computational cost.</a:t>
            </a:r>
          </a:p>
        </p:txBody>
      </p:sp>
    </p:spTree>
    <p:extLst>
      <p:ext uri="{BB962C8B-B14F-4D97-AF65-F5344CB8AC3E}">
        <p14:creationId xmlns:p14="http://schemas.microsoft.com/office/powerpoint/2010/main" val="911130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13873" y="637125"/>
            <a:ext cx="8889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</a:t>
            </a:r>
            <a:endParaRPr lang="en-IN" sz="24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CA4F834-AE64-5734-3D2A-C399E30A3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873" y="1285311"/>
            <a:ext cx="5395763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uses a set encoder to process input observations.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handle variable numbers of observation points.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grid decoder maps the encoded information to spatial outputs.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predicts values for each point in the grid.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uncertainty head estimates both mean and variance.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 a probabilistic prediction using a Gaussian distribution.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3DD2B2F-E965-380D-CBD0-4828EE9801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305" y="867958"/>
            <a:ext cx="5395763" cy="492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083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60509-EB58-24CD-7D6F-BF09EE447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BFC80D-EA25-137C-9314-782B7A612F24}"/>
              </a:ext>
            </a:extLst>
          </p:cNvPr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0B2A187-3743-EF45-3345-AD1771500028}"/>
              </a:ext>
            </a:extLst>
          </p:cNvPr>
          <p:cNvSpPr/>
          <p:nvPr/>
        </p:nvSpPr>
        <p:spPr>
          <a:xfrm>
            <a:off x="713873" y="637125"/>
            <a:ext cx="8889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4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48F7A5B-BCA3-4B0B-AE91-29A70C4AE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873" y="1593088"/>
            <a:ext cx="445489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method achieves the same accuracy as the Gaussian Process baseline.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uncertainty calibration by about 2.3 times.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significantly faster, around 320 times faster than PINN.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performs well even with noisy data.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remains effective when the number of observations is low.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6DF3F5-BE11-035E-1708-F5F650BBA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798" y="1561839"/>
            <a:ext cx="6220693" cy="18671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827C3D-D2AB-43A9-BA85-C5105EF47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058" y="3648913"/>
            <a:ext cx="5344271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20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900CF-9DFD-B0CF-1752-1BAF91255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CA76BF-379F-274B-081C-D5B9B62F0CAA}"/>
              </a:ext>
            </a:extLst>
          </p:cNvPr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C5485479-2BA9-EC66-7E51-609258138A5E}"/>
              </a:ext>
            </a:extLst>
          </p:cNvPr>
          <p:cNvSpPr/>
          <p:nvPr/>
        </p:nvSpPr>
        <p:spPr>
          <a:xfrm>
            <a:off x="713873" y="637125"/>
            <a:ext cx="8889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sz="24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F7175D4F-1871-2997-8961-C343C85C5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873" y="1890892"/>
            <a:ext cx="772748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tested only on smooth coefficient fields.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performance on complex or discontinuous fields is not evaluated.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applied to only one type of PDE.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on real-world data are not included.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theoretical guarantee for accuracy or uncertainty calibration. </a:t>
            </a:r>
          </a:p>
        </p:txBody>
      </p:sp>
    </p:spTree>
    <p:extLst>
      <p:ext uri="{BB962C8B-B14F-4D97-AF65-F5344CB8AC3E}">
        <p14:creationId xmlns:p14="http://schemas.microsoft.com/office/powerpoint/2010/main" val="1319504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615FF-8CCC-A9C0-37C9-AE2938C65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11D826-3856-9E9C-A700-19BEAAFF3F86}"/>
              </a:ext>
            </a:extLst>
          </p:cNvPr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863ED6E-683F-A997-AB8A-117F78C900FB}"/>
              </a:ext>
            </a:extLst>
          </p:cNvPr>
          <p:cNvSpPr/>
          <p:nvPr/>
        </p:nvSpPr>
        <p:spPr>
          <a:xfrm>
            <a:off x="713873" y="637125"/>
            <a:ext cx="8889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sz="24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C76A5A-8213-724A-0351-8EE280D39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873" y="1677800"/>
            <a:ext cx="688046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method introduces a fast and efficient approach for inverse PDE problems.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achieves accuracy comparable to traditional methods.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better uncertainty estimation.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significantly reduces computation time.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suitable for repeated and real-time applications.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work includes testing on more PDE types and real-world datasets </a:t>
            </a:r>
          </a:p>
        </p:txBody>
      </p:sp>
    </p:spTree>
    <p:extLst>
      <p:ext uri="{BB962C8B-B14F-4D97-AF65-F5344CB8AC3E}">
        <p14:creationId xmlns:p14="http://schemas.microsoft.com/office/powerpoint/2010/main" val="2114638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</TotalTime>
  <Words>567</Words>
  <Application>Microsoft Office PowerPoint</Application>
  <PresentationFormat>Widescreen</PresentationFormat>
  <Paragraphs>70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Daaku</dc:creator>
  <cp:lastModifiedBy>Bichitra Behera</cp:lastModifiedBy>
  <cp:revision>10</cp:revision>
  <dcterms:created xsi:type="dcterms:W3CDTF">2025-09-12T04:19:41Z</dcterms:created>
  <dcterms:modified xsi:type="dcterms:W3CDTF">2026-04-06T12:33:28Z</dcterms:modified>
</cp:coreProperties>
</file>